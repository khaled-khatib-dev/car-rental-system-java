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591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902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0D2566"/>
          </a:solidFill>
          <a:ln w="12700">
            <a:solidFill>
              <a:srgbClr val="0D25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</a:t>
            </a:r>
            <a:endParaRPr lang="en-US" sz="3800" dirty="0"/>
          </a:p>
          <a:p>
            <a:pPr marL="0" indent="0" algn="l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3109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A8C4E8"/>
                </a:solidFill>
                <a:latin typeface="Calibri" pitchFamily="34" charset="0"/>
              </a:rPr>
              <a:t>CS102 – Section 252</a:t>
            </a:r>
          </a:p>
        </p:txBody>
      </p:sp>
      <p:sp>
        <p:nvSpPr>
          <p:cNvPr id="5" name="Text 3"/>
          <p:cNvSpPr/>
          <p:nvPr/>
        </p:nvSpPr>
        <p:spPr>
          <a:xfrm>
            <a:off x="457200" y="35204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A8C4E8"/>
                </a:solidFill>
                <a:latin typeface="Calibri" pitchFamily="34" charset="0"/>
              </a:rPr>
              <a:t>Group Members:</a:t>
            </a:r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</a:rPr>
              <a:t>Khaled Khatib — 224110393</a:t>
            </a:r>
          </a:p>
          <a:p>
            <a:pPr>
              <a:spcAft>
                <a:spcPts val="400"/>
              </a:spcAft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</a:rPr>
              <a:t>Abdulrahman Elmutawi — 224110547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</a:rPr>
              <a:t>Suhail Abuobaid — 224110256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b="1" dirty="0">
                <a:solidFill>
                  <a:srgbClr val="A8C4E8"/>
                </a:solidFill>
                <a:latin typeface="Calibri" pitchFamily="34" charset="0"/>
              </a:rPr>
              <a:t>Instructor: Dr. </a:t>
            </a:r>
            <a:r>
              <a:rPr lang="en-US" sz="105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Elmoatez Billah Nagoudi</a:t>
            </a:r>
          </a:p>
          <a:p>
            <a:pPr marL="0" indent="0" algn="l">
              <a:buNone/>
            </a:pPr>
            <a:endParaRPr lang="en-US" sz="1050" b="1" dirty="0">
              <a:solidFill>
                <a:srgbClr val="A8C4E8"/>
              </a:solidFill>
              <a:latin typeface="Calibri" pitchFamily="34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097280"/>
            <a:ext cx="3474720" cy="2926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503920" y="274320"/>
            <a:ext cx="228600" cy="228600"/>
          </a:xfrm>
          <a:prstGeom prst="ellipse">
            <a:avLst/>
          </a:prstGeom>
          <a:solidFill>
            <a:srgbClr val="2D6BE4"/>
          </a:solidFill>
          <a:ln w="1270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503920" y="594360"/>
            <a:ext cx="228600" cy="228600"/>
          </a:xfrm>
          <a:prstGeom prst="ellipse">
            <a:avLst/>
          </a:prstGeom>
          <a:solidFill>
            <a:srgbClr val="2D6BE4"/>
          </a:solidFill>
          <a:ln w="1270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8503920" y="914400"/>
            <a:ext cx="228600" cy="228600"/>
          </a:xfrm>
          <a:prstGeom prst="ellipse">
            <a:avLst/>
          </a:prstGeom>
          <a:solidFill>
            <a:srgbClr val="2D6BE4"/>
          </a:solidFill>
          <a:ln w="1270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8C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50292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A3A8C"/>
                </a:solidFill>
                <a:latin typeface="Calibri" pitchFamily="34" charset="0"/>
              </a:rPr>
              <a:t>●  </a:t>
            </a:r>
            <a:r>
              <a:rPr lang="en-US" sz="1600" dirty="0">
                <a:solidFill>
                  <a:srgbClr val="1A3A8C"/>
                </a:solidFill>
                <a:latin typeface="Calibri" pitchFamily="34" charset="0"/>
              </a:rPr>
              <a:t>A console-based Car Rental System for managing vehicles, customers, staff, and bookings.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A3A8C"/>
                </a:solidFill>
                <a:latin typeface="Calibri" pitchFamily="34" charset="0"/>
              </a:rPr>
              <a:t>●  </a:t>
            </a:r>
            <a:r>
              <a:rPr lang="en-US" sz="1600" dirty="0">
                <a:solidFill>
                  <a:srgbClr val="1A3A8C"/>
                </a:solidFill>
                <a:latin typeface="Calibri" pitchFamily="34" charset="0"/>
              </a:rPr>
              <a:t>Target users: Customers, Staff (branch employees), and Administrators.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A3A8C"/>
                </a:solidFill>
                <a:latin typeface="Calibri" pitchFamily="34" charset="0"/>
              </a:rPr>
              <a:t>●  </a:t>
            </a:r>
            <a:r>
              <a:rPr lang="en-US" sz="1600" dirty="0">
                <a:solidFill>
                  <a:srgbClr val="1A3A8C"/>
                </a:solidFill>
                <a:latin typeface="Calibri" pitchFamily="34" charset="0"/>
              </a:rPr>
              <a:t>Developed in Java 8, Ant, and Apache NetBeans using OOP principles.</a:t>
            </a:r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1A3A8C"/>
                </a:solidFill>
                <a:latin typeface="Calibri" pitchFamily="34" charset="0"/>
              </a:rPr>
              <a:t>●  </a:t>
            </a:r>
            <a:r>
              <a:rPr lang="en-US" sz="1600" dirty="0">
                <a:solidFill>
                  <a:srgbClr val="1A3A8C"/>
                </a:solidFill>
                <a:latin typeface="Calibri" pitchFamily="34" charset="0"/>
              </a:rPr>
              <a:t>This presentation covers system design, requirements, testing, and key challenges.</a:t>
            </a:r>
          </a:p>
        </p:txBody>
      </p:sp>
      <p:sp>
        <p:nvSpPr>
          <p:cNvPr id="6" name="Shape 3"/>
          <p:cNvSpPr/>
          <p:nvPr/>
        </p:nvSpPr>
        <p:spPr>
          <a:xfrm>
            <a:off x="5394960" y="822960"/>
            <a:ext cx="3291840" cy="3474720"/>
          </a:xfrm>
          <a:prstGeom prst="rect">
            <a:avLst/>
          </a:prstGeom>
          <a:solidFill>
            <a:srgbClr val="E8F0FB"/>
          </a:solidFill>
          <a:ln w="12700">
            <a:solidFill>
              <a:srgbClr val="C5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097280"/>
            <a:ext cx="2560320" cy="20116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94960" y="3200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System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9496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9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 •  OOP  •  File I/O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8C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50292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Build a reliable, maintainable system that applies core OOP concepts in a real-world context.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Apply inheritance, polymorphism, encapsulation, and abstraction in a fully functional application.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Keep the scope focused: console-only interface, no external database or GUI required.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Implement clear, intuitive menus with role-based access for Customers, Staff, and Admins.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Guarantee data consistency by loading from .txt files on startup and saving all changes on exit.</a:t>
            </a:r>
            <a:endParaRPr lang="en-US" sz="15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Design for scalability, the system is easily extensible with new vehicle types, roles, or features.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8C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50292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Main menu options: View Vehicles, Book a Vehicle, View History, Cancel Reservation, and Update Profile.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Dedicated role-based menus for Customers, Staff, and Administrators.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Full input validation covering dates, phone numbers, email addresses, and booking status values.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Robust error handling for invalid menu selections and malformed data entries.</a:t>
            </a:r>
            <a:endParaRPr lang="en-US" sz="15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Automatic data persistence: system loads from vehicles.txt, users.txt, and bookings.txt on startup and saves on exit.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257800" y="777240"/>
            <a:ext cx="35661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349240" y="868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System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1371600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15000" y="13716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5349240" y="16916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Vehicle  →  View History  →  Cancel Booking</a:t>
            </a:r>
            <a:endParaRPr lang="en-US" sz="9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2468880"/>
            <a:ext cx="292608" cy="29260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715000" y="246888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5349240" y="278892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Fleet  →  View Bookings  →  Reassign Vehicle</a:t>
            </a:r>
            <a:endParaRPr lang="en-US" sz="9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347472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715000" y="34747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349240" y="37947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Users  →  Analytics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A8C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50292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(Class Diagram)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3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Vehicle is abstract; Economy, SUV, Luxury, and Electric are concrete subclasses.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Customer, Staff, and Admin are distinct user-role classes with separate responsibilities.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Booking links a Customer and a Vehicle, tracking rental dates and current status.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RentalSystem acts as the central controller, managing all lists and core business logic.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DataManager is responsible for reading and writing all .txt data files.</a:t>
            </a:r>
            <a:endParaRPr lang="en-US" sz="135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350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Availability calendar: confirmed bookings block dates; cancellations restore them automatically.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5212080" y="777240"/>
            <a:ext cx="3657600" cy="3749040"/>
          </a:xfrm>
          <a:prstGeom prst="rect">
            <a:avLst/>
          </a:prstGeom>
          <a:solidFill>
            <a:srgbClr val="EEF3FB"/>
          </a:solidFill>
          <a:ln w="12700">
            <a:solidFill>
              <a:srgbClr val="C5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349240" y="868680"/>
            <a:ext cx="1600200" cy="594360"/>
          </a:xfrm>
          <a:prstGeom prst="rect">
            <a:avLst/>
          </a:prstGeom>
          <a:solidFill>
            <a:srgbClr val="0D2566"/>
          </a:solidFill>
          <a:ln w="12700">
            <a:solidFill>
              <a:srgbClr val="0D25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94960" y="89611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(abstract)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394960" y="117043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| SUV | Luxury | Electric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5349240" y="1600200"/>
            <a:ext cx="1600200" cy="594360"/>
          </a:xfrm>
          <a:prstGeom prst="rect">
            <a:avLst/>
          </a:prstGeom>
          <a:solidFill>
            <a:srgbClr val="2D6BE4"/>
          </a:solidFill>
          <a:ln w="1270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5394960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394960" y="19019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phone, email, license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7086600" y="1600200"/>
            <a:ext cx="1600200" cy="594360"/>
          </a:xfrm>
          <a:prstGeom prst="rect">
            <a:avLst/>
          </a:prstGeom>
          <a:solidFill>
            <a:srgbClr val="2D6BE4"/>
          </a:solidFill>
          <a:ln w="12700">
            <a:solidFill>
              <a:srgbClr val="2D6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32320" y="162763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132320" y="19019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staffId, name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349240" y="2331720"/>
            <a:ext cx="1600200" cy="594360"/>
          </a:xfrm>
          <a:prstGeom prst="rect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394960" y="235915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394960" y="263347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+ vehicle + dates + status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349240" y="3063240"/>
            <a:ext cx="1600200" cy="594360"/>
          </a:xfrm>
          <a:prstGeom prst="rect">
            <a:avLst/>
          </a:prstGeom>
          <a:solidFill>
            <a:srgbClr val="1A5C9E"/>
          </a:solidFill>
          <a:ln w="12700">
            <a:solidFill>
              <a:srgbClr val="1A5C9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394960" y="3090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RentalSystem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394960" y="33649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lists + business logic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086600" y="3063240"/>
            <a:ext cx="1600200" cy="594360"/>
          </a:xfrm>
          <a:prstGeom prst="rect">
            <a:avLst/>
          </a:prstGeom>
          <a:solidFill>
            <a:srgbClr val="0D2566"/>
          </a:solidFill>
          <a:ln w="12700">
            <a:solidFill>
              <a:srgbClr val="0D25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132320" y="3090672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DataManager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32320" y="336499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0E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save .txt files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8C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50292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Vehicle booking, cancellation, and staff reassignment all function as expected.</a:t>
            </a:r>
            <a:endParaRPr lang="en-US" sz="14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Date validation correctly rejects entries not in YYYY-MM-DD format.</a:t>
            </a:r>
            <a:endParaRPr lang="en-US" sz="14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Cancellations after the pickup date are blocked with an informative error message.</a:t>
            </a:r>
            <a:endParaRPr lang="en-US" sz="14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Menus recover gracefully from invalid inputs without crashing the system.</a:t>
            </a:r>
            <a:endParaRPr lang="en-US" sz="14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Vehicle status automatically updates to “Rented” when all available dates are reserved.</a:t>
            </a:r>
            <a:endParaRPr lang="en-US" sz="14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Profile updates (name, phone) and booking changes persist correctly across sessions.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257800" y="777240"/>
            <a:ext cx="3566160" cy="3703320"/>
          </a:xfrm>
          <a:prstGeom prst="rect">
            <a:avLst/>
          </a:prstGeom>
          <a:solidFill>
            <a:srgbClr val="F0F0F0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5257800" y="777240"/>
            <a:ext cx="3566160" cy="274320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5349240" y="777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852160" y="777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349240" y="1115568"/>
            <a:ext cx="3337560" cy="3246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D6B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MAIN MENU =====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Customer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Staff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Admin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Exit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choice: 1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your Customer ID: C1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6B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CUSTOMER MENU =====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View Available Vehicles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Book a Vehicle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View Rental History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Cancel Reservation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Update Profile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8C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50292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We Faced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Schedule conflicts within the team — coordinating meetings and aligning on deadlines.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Date logic complexity — accurately managing availability calendars and preventing booking conflicts.</a:t>
            </a:r>
            <a:endParaRPr lang="en-US" sz="1500" dirty="0"/>
          </a:p>
          <a:p>
            <a:pPr>
              <a:spcAft>
                <a:spcPts val="700"/>
              </a:spcAft>
            </a:pPr>
            <a:r>
              <a:rPr lang="en-US" sz="15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Text file format design — </a:t>
            </a:r>
            <a:r>
              <a:rPr lang="en-US" sz="15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One-file serialization vs text format.</a:t>
            </a:r>
            <a:endParaRPr lang="en-US" sz="1500" dirty="0">
              <a:solidFill>
                <a:schemeClr val="accent1"/>
              </a:solidFill>
            </a:endParaRPr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Input handling — ensuring the system recovers gracefully from all invalid user entries.</a:t>
            </a:r>
            <a:endParaRPr lang="en-US" sz="1500" dirty="0"/>
          </a:p>
          <a:p>
            <a:pPr marL="0" indent="0">
              <a:spcAft>
                <a:spcPts val="700"/>
              </a:spcAft>
              <a:buNone/>
            </a:pPr>
            <a:r>
              <a:rPr lang="en-US" sz="150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Code duplication risk — keeping Customer, Staff, and Admin menu logic clean and non-redundant.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257800" y="777240"/>
            <a:ext cx="3566160" cy="3474720"/>
          </a:xfrm>
          <a:prstGeom prst="rect">
            <a:avLst/>
          </a:prstGeom>
          <a:solidFill>
            <a:srgbClr val="E8F0FB"/>
          </a:solidFill>
          <a:ln w="12700">
            <a:solidFill>
              <a:srgbClr val="C5D5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1005840"/>
            <a:ext cx="640080" cy="6400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49240" y="16642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1005840"/>
            <a:ext cx="640080" cy="640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95160" y="16642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Logic</a:t>
            </a:r>
            <a:endParaRPr lang="en-US" sz="10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2194560"/>
            <a:ext cx="640080" cy="6400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349240" y="28529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Format</a:t>
            </a:r>
            <a:endParaRPr lang="en-US" sz="10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2194560"/>
            <a:ext cx="640080" cy="6400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995160" y="285292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Errors</a:t>
            </a:r>
            <a:endParaRPr lang="en-US" sz="10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5760" y="4206240"/>
            <a:ext cx="685800" cy="685800"/>
          </a:xfrm>
          <a:prstGeom prst="rect">
            <a:avLst/>
          </a:prstGeom>
        </p:spPr>
      </p:pic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5840" y="4160520"/>
            <a:ext cx="7315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A8C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8631936" cy="4631436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320040"/>
            <a:ext cx="50292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457200" y="1188720"/>
            <a:ext cx="82296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Fully working console system with role-based menus, an availability calendar, and persistent .txt file storage.</a:t>
            </a:r>
            <a:endParaRPr lang="en-US" sz="14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Clean architecture: Vehicle hierarchy, Customer/Staff/Admin classes, Booking, RentalSystem, and DataManager are clearly separated.</a:t>
            </a:r>
            <a:endParaRPr lang="en-US" sz="14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All four OOP pillars applied: encapsulation (private fields), inheritance (Vehicle subclasses), polymorphism (getVehicleType()), and abstraction (abstract Vehicle class).</a:t>
            </a:r>
            <a:endParaRPr lang="en-US" sz="1450" dirty="0"/>
          </a:p>
          <a:p>
            <a:pPr marL="0" indent="0">
              <a:spcAft>
                <a:spcPts val="900"/>
              </a:spcAft>
              <a:buNone/>
            </a:pPr>
            <a:r>
              <a:rPr lang="en-US" sz="14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System is ready for live demo.</a:t>
            </a:r>
            <a:endParaRPr lang="en-US" sz="1450" dirty="0"/>
          </a:p>
          <a:p>
            <a:pPr>
              <a:spcAft>
                <a:spcPts val="900"/>
              </a:spcAft>
            </a:pPr>
            <a:r>
              <a:rPr lang="en-US" sz="14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Effective teamwork and clear task distribution were central to the project’s success.</a:t>
            </a:r>
            <a:endParaRPr lang="en-US" sz="1450" dirty="0"/>
          </a:p>
          <a:p>
            <a:pPr>
              <a:spcAft>
                <a:spcPts val="900"/>
              </a:spcAft>
            </a:pPr>
            <a:r>
              <a:rPr lang="en-US" sz="1450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Future improvements: GUI front-end, unit testing framework, stronger input validation, and database integration. 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8C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5143500"/>
          </a:xfrm>
          <a:prstGeom prst="rect">
            <a:avLst/>
          </a:prstGeom>
          <a:solidFill>
            <a:srgbClr val="7AAAD8"/>
          </a:solidFill>
          <a:ln w="12700">
            <a:solidFill>
              <a:srgbClr val="7AAA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371600" cy="13716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120" y="365760"/>
            <a:ext cx="914400" cy="914400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0" y="1005840"/>
            <a:ext cx="822960" cy="822960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011680"/>
            <a:ext cx="822960" cy="822960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286000"/>
            <a:ext cx="1097280" cy="1097280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71600" y="3017520"/>
            <a:ext cx="822960" cy="822960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26080" y="3291840"/>
            <a:ext cx="731520" cy="731520"/>
          </a:xfrm>
          <a:prstGeom prst="rect">
            <a:avLst/>
          </a:prstGeom>
        </p:spPr>
      </p:pic>
      <p:sp>
        <p:nvSpPr>
          <p:cNvPr id="10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2"/>
          <p:cNvSpPr/>
          <p:nvPr/>
        </p:nvSpPr>
        <p:spPr>
          <a:xfrm>
            <a:off x="4846320" y="54864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0D1B4B"/>
                </a:solidFill>
                <a:latin typeface="Calibri" pitchFamily="34" charset="0"/>
              </a:rPr>
              <a:t>Thank You</a:t>
            </a:r>
          </a:p>
          <a:p>
            <a:pPr marL="0" indent="0" algn="l">
              <a:buNone/>
            </a:pPr>
            <a:r>
              <a:rPr lang="en-US" sz="5200" b="1" dirty="0">
                <a:solidFill>
                  <a:srgbClr val="0D1B4B"/>
                </a:solidFill>
                <a:latin typeface="Calibri" pitchFamily="34" charset="0"/>
              </a:rPr>
              <a:t>for Listening!</a:t>
            </a:r>
          </a:p>
        </p:txBody>
      </p:sp>
      <p:sp>
        <p:nvSpPr>
          <p:cNvPr id="12" name="Text 3"/>
          <p:cNvSpPr/>
          <p:nvPr/>
        </p:nvSpPr>
        <p:spPr>
          <a:xfrm>
            <a:off x="4846320" y="39801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D6B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questions?</a:t>
            </a:r>
            <a:endParaRPr lang="en-US" sz="2000" dirty="0"/>
          </a:p>
        </p:txBody>
      </p:sp>
      <p:sp>
        <p:nvSpPr>
          <p:cNvPr id="13" name="Text 4"/>
          <p:cNvSpPr/>
          <p:nvPr/>
        </p:nvSpPr>
        <p:spPr>
          <a:xfrm>
            <a:off x="4846320" y="45946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7A9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 System  |  CS102 – Section 252  |  Group: GOATS  |  Khaled Khatib · </a:t>
            </a:r>
            <a:r>
              <a:rPr lang="en-US" sz="11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Abdulrahman</a:t>
            </a:r>
            <a:r>
              <a:rPr lang="en-US" sz="1100" i="1" dirty="0">
                <a:solidFill>
                  <a:srgbClr val="7A9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alibri" pitchFamily="34" charset="0"/>
              </a:rPr>
              <a:t>Elmutawi</a:t>
            </a:r>
            <a:r>
              <a:rPr lang="en-US" sz="1100" dirty="0">
                <a:latin typeface="Calibri" pitchFamily="34" charset="0"/>
              </a:rPr>
              <a:t> </a:t>
            </a:r>
            <a:r>
              <a:rPr lang="en-US" sz="1100" i="1" dirty="0">
                <a:solidFill>
                  <a:srgbClr val="7A9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Suhail Abuobaid</a:t>
            </a:r>
            <a:endParaRPr lang="en-US" sz="1100" dirty="0"/>
          </a:p>
        </p:txBody>
      </p:sp>
      <p:sp>
        <p:nvSpPr>
          <p:cNvPr id="14" name="Text 5"/>
          <p:cNvSpPr/>
          <p:nvPr/>
        </p:nvSpPr>
        <p:spPr>
          <a:xfrm>
            <a:off x="4846320" y="2800320"/>
            <a:ext cx="402336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2D6BE4"/>
                </a:solidFill>
                <a:latin typeface="Calibri" pitchFamily="34" charset="0"/>
              </a:rPr>
              <a:t>Presented by Group GOATS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</a:rPr>
              <a:t>Khaled Khatib — 224110393</a:t>
            </a:r>
          </a:p>
          <a:p>
            <a:pPr>
              <a:spcAft>
                <a:spcPts val="200"/>
              </a:spcAft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</a:rPr>
              <a:t>Abdulrahman </a:t>
            </a:r>
            <a:r>
              <a:rPr lang="en-US" sz="1000" dirty="0">
                <a:latin typeface="Calibri" pitchFamily="34" charset="0"/>
              </a:rPr>
              <a:t>Elmutawi </a:t>
            </a:r>
            <a:r>
              <a:rPr lang="en-US" sz="1000" dirty="0">
                <a:solidFill>
                  <a:srgbClr val="0D1B4B"/>
                </a:solidFill>
                <a:latin typeface="Calibri" pitchFamily="34" charset="0"/>
              </a:rPr>
              <a:t>— </a:t>
            </a:r>
            <a:r>
              <a:rPr lang="en-US" sz="1000" dirty="0">
                <a:latin typeface="Calibri" pitchFamily="34" charset="0"/>
              </a:rPr>
              <a:t>224110547</a:t>
            </a:r>
          </a:p>
          <a:p>
            <a:pPr marL="0" indent="0" algn="l">
              <a:spcAft>
                <a:spcPts val="200"/>
              </a:spcAft>
              <a:buNone/>
            </a:pPr>
            <a:r>
              <a:rPr lang="en-US" sz="1000" dirty="0">
                <a:solidFill>
                  <a:srgbClr val="0D1B4B"/>
                </a:solidFill>
                <a:latin typeface="Calibri" pitchFamily="34" charset="0"/>
              </a:rPr>
              <a:t>Suhail Abuobaid — 224110256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866</Words>
  <Application>Microsoft Office PowerPoint</Application>
  <PresentationFormat>On-screen Show (16:9)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Obada Khateb</cp:lastModifiedBy>
  <cp:revision>4</cp:revision>
  <dcterms:created xsi:type="dcterms:W3CDTF">2026-05-02T16:51:02Z</dcterms:created>
  <dcterms:modified xsi:type="dcterms:W3CDTF">2026-05-02T19:55:35Z</dcterms:modified>
</cp:coreProperties>
</file>